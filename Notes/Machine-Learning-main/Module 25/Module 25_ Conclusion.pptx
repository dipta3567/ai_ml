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</p:sldIdLst>
  <p:sldSz cy="8229600" cx="14630400"/>
  <p:notesSz cx="8229600" cy="14630400"/>
  <p:embeddedFontLst>
    <p:embeddedFont>
      <p:font typeface="Marcellus"/>
      <p:regular r:id="rId8"/>
    </p:embeddedFont>
    <p:embeddedFont>
      <p:font typeface="Montserrat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Montserrat-italic.fntdata"/><Relationship Id="rId10" Type="http://schemas.openxmlformats.org/officeDocument/2006/relationships/font" Target="fonts/Montserrat-bold.fntdata"/><Relationship Id="rId12" Type="http://schemas.openxmlformats.org/officeDocument/2006/relationships/font" Target="fonts/Montserrat-boldItalic.fntdata"/><Relationship Id="rId9" Type="http://schemas.openxmlformats.org/officeDocument/2006/relationships/font" Target="fonts/Montserra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Marcellu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/>
        </p:nvSpPr>
        <p:spPr>
          <a:xfrm>
            <a:off x="793790" y="934760"/>
            <a:ext cx="1143095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We Needed More Than K-Means</a:t>
            </a:r>
            <a:endParaRPr b="0" i="0" sz="5100" u="none" cap="none" strike="noStrike"/>
          </a:p>
        </p:txBody>
      </p:sp>
      <p:sp>
        <p:nvSpPr>
          <p:cNvPr id="26" name="Google Shape;26;p6"/>
          <p:cNvSpPr/>
          <p:nvPr/>
        </p:nvSpPr>
        <p:spPr>
          <a:xfrm>
            <a:off x="793790" y="212264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 this module, we first understood the fundamental limitations of K-Means clustering that make it insufficient for many real-world scenarios.</a:t>
            </a:r>
            <a:endParaRPr b="0" i="0" sz="1750" u="none" cap="none" strike="noStrike"/>
          </a:p>
        </p:txBody>
      </p:sp>
      <p:sp>
        <p:nvSpPr>
          <p:cNvPr id="27" name="Google Shape;27;p6"/>
          <p:cNvSpPr/>
          <p:nvPr/>
        </p:nvSpPr>
        <p:spPr>
          <a:xfrm>
            <a:off x="793790" y="2967395"/>
            <a:ext cx="4196358" cy="2972395"/>
          </a:xfrm>
          <a:prstGeom prst="roundRect">
            <a:avLst>
              <a:gd fmla="val 492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763310" y="2967395"/>
            <a:ext cx="121920" cy="297239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1142524" y="3224689"/>
            <a:ext cx="359033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Spherical Assumption Problem</a:t>
            </a:r>
            <a:endParaRPr b="0" i="0" sz="2550" u="none" cap="none" strike="noStrike"/>
          </a:p>
        </p:txBody>
      </p:sp>
      <p:sp>
        <p:nvSpPr>
          <p:cNvPr id="30" name="Google Shape;30;p6"/>
          <p:cNvSpPr/>
          <p:nvPr/>
        </p:nvSpPr>
        <p:spPr>
          <a:xfrm>
            <a:off x="1142524" y="4208502"/>
            <a:ext cx="359033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K-Means assumes clusters are spherical and similar in size, failing when data forms irregular, elongated, or nested shapes.</a:t>
            </a:r>
            <a:endParaRPr b="0" i="0" sz="1750" u="none" cap="none" strike="noStrike"/>
          </a:p>
        </p:txBody>
      </p:sp>
      <p:sp>
        <p:nvSpPr>
          <p:cNvPr id="31" name="Google Shape;31;p6"/>
          <p:cNvSpPr/>
          <p:nvPr/>
        </p:nvSpPr>
        <p:spPr>
          <a:xfrm>
            <a:off x="5216962" y="2967395"/>
            <a:ext cx="4196358" cy="2972395"/>
          </a:xfrm>
          <a:prstGeom prst="roundRect">
            <a:avLst>
              <a:gd fmla="val 492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5186482" y="2967395"/>
            <a:ext cx="121920" cy="297239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5565696" y="3224689"/>
            <a:ext cx="359033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Fixed Cluster Requirement</a:t>
            </a:r>
            <a:endParaRPr b="0" i="0" sz="2550" u="none" cap="none" strike="noStrike"/>
          </a:p>
        </p:txBody>
      </p:sp>
      <p:sp>
        <p:nvSpPr>
          <p:cNvPr id="34" name="Google Shape;34;p6"/>
          <p:cNvSpPr/>
          <p:nvPr/>
        </p:nvSpPr>
        <p:spPr>
          <a:xfrm>
            <a:off x="5565696" y="4208502"/>
            <a:ext cx="359033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number of clusters must be specified in advance, forcing decisions before understanding the data's natural structure.</a:t>
            </a:r>
            <a:endParaRPr b="0" i="0" sz="1750" u="none" cap="none" strike="noStrike"/>
          </a:p>
        </p:txBody>
      </p:sp>
      <p:sp>
        <p:nvSpPr>
          <p:cNvPr id="35" name="Google Shape;35;p6"/>
          <p:cNvSpPr/>
          <p:nvPr/>
        </p:nvSpPr>
        <p:spPr>
          <a:xfrm>
            <a:off x="9640133" y="2967395"/>
            <a:ext cx="4196358" cy="2972395"/>
          </a:xfrm>
          <a:prstGeom prst="roundRect">
            <a:avLst>
              <a:gd fmla="val 492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9609653" y="2967395"/>
            <a:ext cx="121920" cy="2972395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9988868" y="322468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Noise Sensitivity Issue</a:t>
            </a:r>
            <a:endParaRPr b="0" i="0" sz="2550" u="none" cap="none" strike="noStrike"/>
          </a:p>
        </p:txBody>
      </p:sp>
      <p:sp>
        <p:nvSpPr>
          <p:cNvPr id="38" name="Google Shape;38;p6"/>
          <p:cNvSpPr/>
          <p:nvPr/>
        </p:nvSpPr>
        <p:spPr>
          <a:xfrm>
            <a:off x="9988868" y="3784640"/>
            <a:ext cx="359033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Every point must belong to a cluster, meaning outliers and noise distort results rather than being identified separately.</a:t>
            </a:r>
            <a:endParaRPr b="0" i="0" sz="1750" u="none" cap="none" strike="noStrike"/>
          </a:p>
        </p:txBody>
      </p:sp>
      <p:sp>
        <p:nvSpPr>
          <p:cNvPr id="39" name="Google Shape;39;p6"/>
          <p:cNvSpPr/>
          <p:nvPr/>
        </p:nvSpPr>
        <p:spPr>
          <a:xfrm>
            <a:off x="1133951" y="6450092"/>
            <a:ext cx="1270265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Key insight: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Real-world data is messy, irregular, and often noisy. Relying only on K-Means can lead to misleading clustering results that miss the true structure hidden in your data.</a:t>
            </a:r>
            <a:endParaRPr b="0" i="0" sz="1750" u="none" cap="none" strike="noStrike"/>
          </a:p>
        </p:txBody>
      </p:sp>
      <p:sp>
        <p:nvSpPr>
          <p:cNvPr id="40" name="Google Shape;40;p6"/>
          <p:cNvSpPr/>
          <p:nvPr/>
        </p:nvSpPr>
        <p:spPr>
          <a:xfrm>
            <a:off x="793790" y="6194941"/>
            <a:ext cx="30480" cy="1099899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>
            <a:off x="2515076" y="565190"/>
            <a:ext cx="2127171" cy="248841"/>
          </a:xfrm>
          <a:prstGeom prst="roundRect">
            <a:avLst>
              <a:gd fmla="val 20494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6040" y="628888"/>
            <a:ext cx="121325" cy="12132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/>
          <p:nvPr/>
        </p:nvSpPr>
        <p:spPr>
          <a:xfrm>
            <a:off x="2787968" y="610672"/>
            <a:ext cx="1763316" cy="157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950"/>
              <a:buFont typeface="Montserrat"/>
              <a:buNone/>
            </a:pPr>
            <a:r>
              <a:rPr b="0" i="0" lang="en-US" sz="9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DENSITY-BASED APPROACH</a:t>
            </a:r>
            <a:endParaRPr b="0" i="0" sz="950" u="none" cap="none" strike="noStrike"/>
          </a:p>
        </p:txBody>
      </p:sp>
      <p:sp>
        <p:nvSpPr>
          <p:cNvPr id="49" name="Google Shape;49;p7"/>
          <p:cNvSpPr/>
          <p:nvPr/>
        </p:nvSpPr>
        <p:spPr>
          <a:xfrm>
            <a:off x="2515076" y="874633"/>
            <a:ext cx="6479858" cy="5672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88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400"/>
              <a:buFont typeface="Marcellus"/>
              <a:buNone/>
            </a:pPr>
            <a:r>
              <a:rPr b="0" i="0" lang="en-US" sz="3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Learned from DBSCAN</a:t>
            </a:r>
            <a:endParaRPr b="0" i="0" sz="3400" u="none" cap="none" strike="noStrike"/>
          </a:p>
        </p:txBody>
      </p:sp>
      <p:sp>
        <p:nvSpPr>
          <p:cNvPr id="50" name="Google Shape;50;p7"/>
          <p:cNvSpPr/>
          <p:nvPr/>
        </p:nvSpPr>
        <p:spPr>
          <a:xfrm>
            <a:off x="2515076" y="1669494"/>
            <a:ext cx="9600128" cy="39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DBSCAN introduced a fundamentally different way of thinking about clustering, moving away from centroids to density-based grouping.</a:t>
            </a:r>
            <a:endParaRPr b="0" i="0" sz="1150" u="none" cap="none" strike="noStrike"/>
          </a:p>
        </p:txBody>
      </p:sp>
      <p:sp>
        <p:nvSpPr>
          <p:cNvPr id="51" name="Google Shape;51;p7"/>
          <p:cNvSpPr/>
          <p:nvPr/>
        </p:nvSpPr>
        <p:spPr>
          <a:xfrm>
            <a:off x="2515076" y="2234803"/>
            <a:ext cx="3098840" cy="1300282"/>
          </a:xfrm>
          <a:prstGeom prst="roundRect">
            <a:avLst>
              <a:gd fmla="val 5626" name="adj"/>
            </a:avLst>
          </a:prstGeom>
          <a:solidFill>
            <a:srgbClr val="FFFFF4">
              <a:alpha val="94901"/>
            </a:srgbClr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2499836" y="2234803"/>
            <a:ext cx="60960" cy="1300282"/>
          </a:xfrm>
          <a:prstGeom prst="roundRect">
            <a:avLst>
              <a:gd fmla="val 10457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7"/>
          <p:cNvSpPr/>
          <p:nvPr/>
        </p:nvSpPr>
        <p:spPr>
          <a:xfrm>
            <a:off x="2727722" y="2401729"/>
            <a:ext cx="2411611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Density-Defined Clusters</a:t>
            </a:r>
            <a:endParaRPr b="0" i="0" sz="1700" u="none" cap="none" strike="noStrike"/>
          </a:p>
        </p:txBody>
      </p:sp>
      <p:sp>
        <p:nvSpPr>
          <p:cNvPr id="54" name="Google Shape;54;p7"/>
          <p:cNvSpPr/>
          <p:nvPr/>
        </p:nvSpPr>
        <p:spPr>
          <a:xfrm>
            <a:off x="2727722" y="2776299"/>
            <a:ext cx="2719268" cy="39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Clusters form naturally in dense regions, not around fixed centers</a:t>
            </a:r>
            <a:endParaRPr b="0" i="0" sz="1150" u="none" cap="none" strike="noStrike"/>
          </a:p>
        </p:txBody>
      </p:sp>
      <p:sp>
        <p:nvSpPr>
          <p:cNvPr id="55" name="Google Shape;55;p7"/>
          <p:cNvSpPr/>
          <p:nvPr/>
        </p:nvSpPr>
        <p:spPr>
          <a:xfrm>
            <a:off x="5765602" y="2234803"/>
            <a:ext cx="3098959" cy="1300282"/>
          </a:xfrm>
          <a:prstGeom prst="roundRect">
            <a:avLst>
              <a:gd fmla="val 5626" name="adj"/>
            </a:avLst>
          </a:prstGeom>
          <a:solidFill>
            <a:srgbClr val="FFFFF4">
              <a:alpha val="94901"/>
            </a:srgbClr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"/>
          <p:cNvSpPr/>
          <p:nvPr/>
        </p:nvSpPr>
        <p:spPr>
          <a:xfrm>
            <a:off x="5750362" y="2234803"/>
            <a:ext cx="60960" cy="1300282"/>
          </a:xfrm>
          <a:prstGeom prst="roundRect">
            <a:avLst>
              <a:gd fmla="val 10457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5978247" y="2401729"/>
            <a:ext cx="2181820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Noise Recognition</a:t>
            </a:r>
            <a:endParaRPr b="0" i="0" sz="1700" u="none" cap="none" strike="noStrike"/>
          </a:p>
        </p:txBody>
      </p:sp>
      <p:sp>
        <p:nvSpPr>
          <p:cNvPr id="58" name="Google Shape;58;p7"/>
          <p:cNvSpPr/>
          <p:nvPr/>
        </p:nvSpPr>
        <p:spPr>
          <a:xfrm>
            <a:off x="5978247" y="2776299"/>
            <a:ext cx="2719387" cy="591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Sparse or isolated points are explicitly treated as noise, not forced into clusters</a:t>
            </a:r>
            <a:endParaRPr b="0" i="0" sz="1150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9016246" y="2234803"/>
            <a:ext cx="3098959" cy="1300282"/>
          </a:xfrm>
          <a:prstGeom prst="roundRect">
            <a:avLst>
              <a:gd fmla="val 5626" name="adj"/>
            </a:avLst>
          </a:prstGeom>
          <a:solidFill>
            <a:srgbClr val="FFFFF4">
              <a:alpha val="94901"/>
            </a:srgbClr>
          </a:solidFill>
          <a:ln cap="flat" cmpd="sng" w="1522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7"/>
          <p:cNvSpPr/>
          <p:nvPr/>
        </p:nvSpPr>
        <p:spPr>
          <a:xfrm>
            <a:off x="9001006" y="2234803"/>
            <a:ext cx="60960" cy="1300282"/>
          </a:xfrm>
          <a:prstGeom prst="roundRect">
            <a:avLst>
              <a:gd fmla="val 10457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9228892" y="2401729"/>
            <a:ext cx="2181820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Arbitrary Shapes</a:t>
            </a:r>
            <a:endParaRPr b="0" i="0" sz="1700" u="none" cap="none" strike="noStrike"/>
          </a:p>
        </p:txBody>
      </p:sp>
      <p:sp>
        <p:nvSpPr>
          <p:cNvPr id="62" name="Google Shape;62;p7"/>
          <p:cNvSpPr/>
          <p:nvPr/>
        </p:nvSpPr>
        <p:spPr>
          <a:xfrm>
            <a:off x="9228892" y="2776299"/>
            <a:ext cx="2719387" cy="591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Can detect clusters of any shape, including irregular and nested patterns</a:t>
            </a:r>
            <a:endParaRPr b="0" i="0" sz="1150" u="none" cap="none" strike="noStrike"/>
          </a:p>
        </p:txBody>
      </p:sp>
      <p:sp>
        <p:nvSpPr>
          <p:cNvPr id="63" name="Google Shape;63;p7"/>
          <p:cNvSpPr/>
          <p:nvPr/>
        </p:nvSpPr>
        <p:spPr>
          <a:xfrm>
            <a:off x="2515076" y="3705820"/>
            <a:ext cx="9600128" cy="1201460"/>
          </a:xfrm>
          <a:prstGeom prst="roundRect">
            <a:avLst>
              <a:gd fmla="val 5306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6762" y="3917871"/>
            <a:ext cx="272653" cy="218123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/>
          <p:nvPr/>
        </p:nvSpPr>
        <p:spPr>
          <a:xfrm>
            <a:off x="3091101" y="3895368"/>
            <a:ext cx="2181820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Core Parameters</a:t>
            </a:r>
            <a:endParaRPr b="0" i="0" sz="1700" u="none" cap="none" strike="noStrike"/>
          </a:p>
        </p:txBody>
      </p:sp>
      <p:sp>
        <p:nvSpPr>
          <p:cNvPr id="66" name="Google Shape;66;p7"/>
          <p:cNvSpPr/>
          <p:nvPr/>
        </p:nvSpPr>
        <p:spPr>
          <a:xfrm>
            <a:off x="3091101" y="4330660"/>
            <a:ext cx="8872418" cy="19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eps:</a:t>
            </a:r>
            <a:r>
              <a:rPr b="0" i="0" lang="en-US" sz="1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Defines neighborhood radius around each point</a:t>
            </a:r>
            <a:endParaRPr b="0" i="0" sz="1150" u="none" cap="none" strike="noStrike"/>
          </a:p>
        </p:txBody>
      </p:sp>
      <p:sp>
        <p:nvSpPr>
          <p:cNvPr id="67" name="Google Shape;67;p7"/>
          <p:cNvSpPr/>
          <p:nvPr/>
        </p:nvSpPr>
        <p:spPr>
          <a:xfrm>
            <a:off x="3091101" y="4581049"/>
            <a:ext cx="8872418" cy="197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min_samples:</a:t>
            </a:r>
            <a:r>
              <a:rPr b="0" i="0" lang="en-US" sz="11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Ensures meaningful density thresholds</a:t>
            </a:r>
            <a:endParaRPr b="0" i="0" sz="1150" u="none" cap="none" strike="noStrike"/>
          </a:p>
        </p:txBody>
      </p:sp>
      <p:pic>
        <p:nvPicPr>
          <p:cNvPr descr="preencoded.png" id="68" name="Google Shape;6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5076" y="5078016"/>
            <a:ext cx="3200043" cy="6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2666762" y="5836801"/>
            <a:ext cx="2181820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Core Points</a:t>
            </a:r>
            <a:endParaRPr b="0" i="0" sz="1700" u="none" cap="none" strike="noStrike"/>
          </a:p>
        </p:txBody>
      </p:sp>
      <p:sp>
        <p:nvSpPr>
          <p:cNvPr id="70" name="Google Shape;70;p7"/>
          <p:cNvSpPr/>
          <p:nvPr/>
        </p:nvSpPr>
        <p:spPr>
          <a:xfrm>
            <a:off x="2666762" y="6211372"/>
            <a:ext cx="2896672" cy="39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Dense neighborhood centers that anchor clusters</a:t>
            </a:r>
            <a:endParaRPr b="0" i="0" sz="1150" u="none" cap="none" strike="noStrike"/>
          </a:p>
        </p:txBody>
      </p:sp>
      <p:pic>
        <p:nvPicPr>
          <p:cNvPr descr="preencoded.png" id="71" name="Google Shape;7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119" y="5078016"/>
            <a:ext cx="3200043" cy="6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7"/>
          <p:cNvSpPr/>
          <p:nvPr/>
        </p:nvSpPr>
        <p:spPr>
          <a:xfrm>
            <a:off x="5866805" y="5836801"/>
            <a:ext cx="2181820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Border Points</a:t>
            </a:r>
            <a:endParaRPr b="0" i="0" sz="1700" u="none" cap="none" strike="noStrike"/>
          </a:p>
        </p:txBody>
      </p:sp>
      <p:sp>
        <p:nvSpPr>
          <p:cNvPr id="73" name="Google Shape;73;p7"/>
          <p:cNvSpPr/>
          <p:nvPr/>
        </p:nvSpPr>
        <p:spPr>
          <a:xfrm>
            <a:off x="5866805" y="6211372"/>
            <a:ext cx="2896672" cy="39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Edge members connecting to core points</a:t>
            </a:r>
            <a:endParaRPr b="0" i="0" sz="1150" u="none" cap="none" strike="noStrike"/>
          </a:p>
        </p:txBody>
      </p:sp>
      <p:pic>
        <p:nvPicPr>
          <p:cNvPr descr="preencoded.png" id="74" name="Google Shape;74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15162" y="5078016"/>
            <a:ext cx="3200043" cy="60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7"/>
          <p:cNvSpPr/>
          <p:nvPr/>
        </p:nvSpPr>
        <p:spPr>
          <a:xfrm>
            <a:off x="9066848" y="5836801"/>
            <a:ext cx="2181820" cy="283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00"/>
              <a:buFont typeface="Marcellus"/>
              <a:buNone/>
            </a:pPr>
            <a:r>
              <a:rPr b="0" i="0" lang="en-US" sz="17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Noise Points</a:t>
            </a:r>
            <a:endParaRPr b="0" i="0" sz="1700" u="none" cap="none" strike="noStrike"/>
          </a:p>
        </p:txBody>
      </p:sp>
      <p:sp>
        <p:nvSpPr>
          <p:cNvPr id="76" name="Google Shape;76;p7"/>
          <p:cNvSpPr/>
          <p:nvPr/>
        </p:nvSpPr>
        <p:spPr>
          <a:xfrm>
            <a:off x="9066848" y="6211372"/>
            <a:ext cx="2896672" cy="39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Isolated outliers excluded from clusters</a:t>
            </a:r>
            <a:endParaRPr b="0" i="0" sz="1150" u="none" cap="none" strike="noStrike"/>
          </a:p>
        </p:txBody>
      </p:sp>
      <p:sp>
        <p:nvSpPr>
          <p:cNvPr id="77" name="Google Shape;77;p7"/>
          <p:cNvSpPr/>
          <p:nvPr/>
        </p:nvSpPr>
        <p:spPr>
          <a:xfrm>
            <a:off x="2742724" y="7099102"/>
            <a:ext cx="9372481" cy="39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150"/>
              <a:buFont typeface="Montserrat"/>
              <a:buNone/>
            </a:pPr>
            <a:r>
              <a:rPr b="1" i="0" lang="en-US" sz="115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Key takeaway:</a:t>
            </a:r>
            <a:r>
              <a:rPr b="0" i="0" lang="en-US" sz="11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DBSCAN does not force every point into a cluster. It respects the structure already present in the data, making it ideal for real-world messy datasets.</a:t>
            </a:r>
            <a:endParaRPr b="0" i="0" sz="1150" u="none" cap="none" strike="noStrike"/>
          </a:p>
        </p:txBody>
      </p:sp>
      <p:sp>
        <p:nvSpPr>
          <p:cNvPr id="78" name="Google Shape;78;p7"/>
          <p:cNvSpPr/>
          <p:nvPr/>
        </p:nvSpPr>
        <p:spPr>
          <a:xfrm>
            <a:off x="2515076" y="6928366"/>
            <a:ext cx="15240" cy="736044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4" name="Google Shape;8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1146929" y="982147"/>
            <a:ext cx="2617232" cy="350282"/>
          </a:xfrm>
          <a:prstGeom prst="roundRect">
            <a:avLst>
              <a:gd fmla="val 18709" name="adj"/>
            </a:avLst>
          </a:prstGeom>
          <a:noFill/>
          <a:ln cap="flat" cmpd="sng" w="15225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9088" y="1079302"/>
            <a:ext cx="155972" cy="15597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"/>
          <p:cNvSpPr/>
          <p:nvPr/>
        </p:nvSpPr>
        <p:spPr>
          <a:xfrm>
            <a:off x="1513046" y="1055846"/>
            <a:ext cx="2118955" cy="202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1200"/>
              <a:buFont typeface="Montserrat"/>
              <a:buNone/>
            </a:pPr>
            <a:r>
              <a:rPr b="0" i="0" lang="en-US" sz="12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STEP-BY-STEP STRUCTURE</a:t>
            </a:r>
            <a:endParaRPr b="0" i="0" sz="1200" u="none" cap="none" strike="noStrike"/>
          </a:p>
        </p:txBody>
      </p:sp>
      <p:sp>
        <p:nvSpPr>
          <p:cNvPr id="89" name="Google Shape;89;p8"/>
          <p:cNvSpPr/>
          <p:nvPr/>
        </p:nvSpPr>
        <p:spPr>
          <a:xfrm>
            <a:off x="1146929" y="1410414"/>
            <a:ext cx="11908155" cy="729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400"/>
              <a:buFont typeface="Marcellus"/>
              <a:buNone/>
            </a:pPr>
            <a:r>
              <a:rPr b="0" i="0" lang="en-US" sz="44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We Learned from Hierarchical Clustering</a:t>
            </a:r>
            <a:endParaRPr b="0" i="0" sz="4400" u="none" cap="none" strike="noStrike"/>
          </a:p>
        </p:txBody>
      </p:sp>
      <p:sp>
        <p:nvSpPr>
          <p:cNvPr id="90" name="Google Shape;90;p8"/>
          <p:cNvSpPr/>
          <p:nvPr/>
        </p:nvSpPr>
        <p:spPr>
          <a:xfrm>
            <a:off x="1146929" y="2431971"/>
            <a:ext cx="12336423" cy="50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 revealed how clustering can be built progressively, preserving the entire merging history for deeper structural insight.</a:t>
            </a:r>
            <a:endParaRPr b="0" i="0" sz="1500" u="none" cap="none" strike="noStrike"/>
          </a:p>
        </p:txBody>
      </p:sp>
      <p:sp>
        <p:nvSpPr>
          <p:cNvPr id="91" name="Google Shape;91;p8"/>
          <p:cNvSpPr/>
          <p:nvPr/>
        </p:nvSpPr>
        <p:spPr>
          <a:xfrm>
            <a:off x="1146929" y="3158252"/>
            <a:ext cx="3982045" cy="1424107"/>
          </a:xfrm>
          <a:prstGeom prst="roundRect">
            <a:avLst>
              <a:gd fmla="val 575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1364813" y="3376136"/>
            <a:ext cx="2803684" cy="36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Individual Points</a:t>
            </a:r>
            <a:endParaRPr b="0" i="0" sz="2200" u="none" cap="none" strike="noStrike"/>
          </a:p>
        </p:txBody>
      </p:sp>
      <p:sp>
        <p:nvSpPr>
          <p:cNvPr id="93" name="Google Shape;93;p8"/>
          <p:cNvSpPr/>
          <p:nvPr/>
        </p:nvSpPr>
        <p:spPr>
          <a:xfrm>
            <a:off x="1364813" y="3857506"/>
            <a:ext cx="3546277" cy="50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Start: each data point is its own cluster</a:t>
            </a:r>
            <a:endParaRPr b="0" i="0" sz="1500" u="none" cap="none" strike="noStrike"/>
          </a:p>
        </p:txBody>
      </p:sp>
      <p:sp>
        <p:nvSpPr>
          <p:cNvPr id="94" name="Google Shape;94;p8"/>
          <p:cNvSpPr/>
          <p:nvPr/>
        </p:nvSpPr>
        <p:spPr>
          <a:xfrm>
            <a:off x="5323999" y="3158252"/>
            <a:ext cx="3982164" cy="1424107"/>
          </a:xfrm>
          <a:prstGeom prst="roundRect">
            <a:avLst>
              <a:gd fmla="val 575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5541883" y="3376136"/>
            <a:ext cx="2803684" cy="36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Gradual Merging</a:t>
            </a:r>
            <a:endParaRPr b="0" i="0" sz="2200" u="none" cap="none" strike="noStrike"/>
          </a:p>
        </p:txBody>
      </p:sp>
      <p:sp>
        <p:nvSpPr>
          <p:cNvPr id="96" name="Google Shape;96;p8"/>
          <p:cNvSpPr/>
          <p:nvPr/>
        </p:nvSpPr>
        <p:spPr>
          <a:xfrm>
            <a:off x="5541883" y="3857506"/>
            <a:ext cx="3546396" cy="50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Clusters combine based on distance metrics</a:t>
            </a:r>
            <a:endParaRPr b="0" i="0" sz="1500" u="none" cap="none" strike="noStrike"/>
          </a:p>
        </p:txBody>
      </p:sp>
      <p:sp>
        <p:nvSpPr>
          <p:cNvPr id="97" name="Google Shape;97;p8"/>
          <p:cNvSpPr/>
          <p:nvPr/>
        </p:nvSpPr>
        <p:spPr>
          <a:xfrm>
            <a:off x="9501188" y="3158252"/>
            <a:ext cx="3982164" cy="1424107"/>
          </a:xfrm>
          <a:prstGeom prst="roundRect">
            <a:avLst>
              <a:gd fmla="val 575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9719072" y="3376136"/>
            <a:ext cx="2803684" cy="36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45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200"/>
              <a:buFont typeface="Marcellus"/>
              <a:buNone/>
            </a:pPr>
            <a:r>
              <a:rPr b="0" i="0" lang="en-US" sz="22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Full History</a:t>
            </a:r>
            <a:endParaRPr b="0" i="0" sz="2200" u="none" cap="none" strike="noStrike"/>
          </a:p>
        </p:txBody>
      </p:sp>
      <p:sp>
        <p:nvSpPr>
          <p:cNvPr id="99" name="Google Shape;99;p8"/>
          <p:cNvSpPr/>
          <p:nvPr/>
        </p:nvSpPr>
        <p:spPr>
          <a:xfrm>
            <a:off x="9719072" y="3857506"/>
            <a:ext cx="3546396" cy="50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Complete merging process is preserved</a:t>
            </a:r>
            <a:endParaRPr b="0" i="0" sz="1500" u="none" cap="none" strike="noStrike"/>
          </a:p>
        </p:txBody>
      </p:sp>
      <p:sp>
        <p:nvSpPr>
          <p:cNvPr id="100" name="Google Shape;100;p8"/>
          <p:cNvSpPr/>
          <p:nvPr/>
        </p:nvSpPr>
        <p:spPr>
          <a:xfrm>
            <a:off x="1146929" y="4996696"/>
            <a:ext cx="3364468" cy="437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600"/>
              <a:buFont typeface="Marcellus"/>
              <a:buNone/>
            </a:pPr>
            <a:r>
              <a:rPr b="0" i="0" lang="en-US" sz="26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Linkage Methods</a:t>
            </a:r>
            <a:endParaRPr b="0" i="0" sz="2600" u="none" cap="none" strike="noStrike"/>
          </a:p>
        </p:txBody>
      </p:sp>
      <p:sp>
        <p:nvSpPr>
          <p:cNvPr id="101" name="Google Shape;101;p8"/>
          <p:cNvSpPr/>
          <p:nvPr/>
        </p:nvSpPr>
        <p:spPr>
          <a:xfrm>
            <a:off x="1146929" y="5629037"/>
            <a:ext cx="5930265" cy="253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Single linkage: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Minimum distance between clusters</a:t>
            </a:r>
            <a:endParaRPr b="0" i="0" sz="1500" u="none" cap="none" strike="noStrike"/>
          </a:p>
        </p:txBody>
      </p:sp>
      <p:sp>
        <p:nvSpPr>
          <p:cNvPr id="102" name="Google Shape;102;p8"/>
          <p:cNvSpPr/>
          <p:nvPr/>
        </p:nvSpPr>
        <p:spPr>
          <a:xfrm>
            <a:off x="1146929" y="5950744"/>
            <a:ext cx="5930265" cy="253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Complete linkage: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Maximum distance between clusters</a:t>
            </a:r>
            <a:endParaRPr b="0" i="0" sz="1500" u="none" cap="none" strike="noStrike"/>
          </a:p>
        </p:txBody>
      </p:sp>
      <p:sp>
        <p:nvSpPr>
          <p:cNvPr id="103" name="Google Shape;103;p8"/>
          <p:cNvSpPr/>
          <p:nvPr/>
        </p:nvSpPr>
        <p:spPr>
          <a:xfrm>
            <a:off x="1146929" y="6272451"/>
            <a:ext cx="5930265" cy="253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Average linkage: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Average distance across all pairs</a:t>
            </a:r>
            <a:endParaRPr b="0" i="0" sz="1500" u="none" cap="none" strike="noStrike"/>
          </a:p>
        </p:txBody>
      </p:sp>
      <p:sp>
        <p:nvSpPr>
          <p:cNvPr id="104" name="Google Shape;104;p8"/>
          <p:cNvSpPr/>
          <p:nvPr/>
        </p:nvSpPr>
        <p:spPr>
          <a:xfrm>
            <a:off x="1146929" y="6594158"/>
            <a:ext cx="5930265" cy="253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Ward linkage: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Minimizes within-cluster variance</a:t>
            </a:r>
            <a:endParaRPr b="0" i="0" sz="1500" u="none" cap="none" strike="noStrike"/>
          </a:p>
        </p:txBody>
      </p:sp>
      <p:sp>
        <p:nvSpPr>
          <p:cNvPr id="105" name="Google Shape;105;p8"/>
          <p:cNvSpPr/>
          <p:nvPr/>
        </p:nvSpPr>
        <p:spPr>
          <a:xfrm>
            <a:off x="7560588" y="4996696"/>
            <a:ext cx="4357330" cy="4373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600"/>
              <a:buFont typeface="Marcellus"/>
              <a:buNone/>
            </a:pPr>
            <a:r>
              <a:rPr b="0" i="0" lang="en-US" sz="26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Dendrogram Advantage</a:t>
            </a:r>
            <a:endParaRPr b="0" i="0" sz="2600" u="none" cap="none" strike="noStrike"/>
          </a:p>
        </p:txBody>
      </p:sp>
      <p:sp>
        <p:nvSpPr>
          <p:cNvPr id="106" name="Google Shape;106;p8"/>
          <p:cNvSpPr/>
          <p:nvPr/>
        </p:nvSpPr>
        <p:spPr>
          <a:xfrm>
            <a:off x="7560588" y="5629037"/>
            <a:ext cx="5930265" cy="7604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Visualizes the complete clustering hierarchy, allowing you to choose the optimal number of clusters by cutting the tree at different heights.</a:t>
            </a:r>
            <a:endParaRPr b="0" i="0" sz="1500" u="none" cap="none" strike="noStrike"/>
          </a:p>
        </p:txBody>
      </p:sp>
      <p:sp>
        <p:nvSpPr>
          <p:cNvPr id="107" name="Google Shape;107;p8"/>
          <p:cNvSpPr/>
          <p:nvPr/>
        </p:nvSpPr>
        <p:spPr>
          <a:xfrm>
            <a:off x="7560588" y="6564987"/>
            <a:ext cx="5930265" cy="506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1500"/>
              <a:buFont typeface="Montserrat"/>
              <a:buNone/>
            </a:pPr>
            <a:r>
              <a:rPr b="1" i="0" lang="en-US" sz="15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Key strength:</a:t>
            </a: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Hierarchical clustering prioritizes interpretability and structural insight over speed.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