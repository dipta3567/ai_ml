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8229600" cx="14630400"/>
  <p:notesSz cx="8229600" cy="14630400"/>
  <p:embeddedFontLst>
    <p:embeddedFont>
      <p:font typeface="Marcellus"/>
      <p:regular r:id="rId9"/>
    </p:embeddedFon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Marcellu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/>
          <p:nvPr/>
        </p:nvSpPr>
        <p:spPr>
          <a:xfrm>
            <a:off x="793790" y="806053"/>
            <a:ext cx="9515475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We Learned in Module 24</a:t>
            </a:r>
            <a:endParaRPr b="0" i="0" sz="5100" u="none" cap="none" strike="noStrike"/>
          </a:p>
        </p:txBody>
      </p:sp>
      <p:sp>
        <p:nvSpPr>
          <p:cNvPr id="29" name="Google Shape;29;p7"/>
          <p:cNvSpPr/>
          <p:nvPr/>
        </p:nvSpPr>
        <p:spPr>
          <a:xfrm>
            <a:off x="793790" y="1993940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 this module, we explored how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Analysis (PCA)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works both conceptually and practically, giving you the tools to simplify complex datasets while preserving their essential structure.</a:t>
            </a:r>
            <a:endParaRPr b="0" i="0" sz="1750" u="none" cap="none" strike="noStrike"/>
          </a:p>
        </p:txBody>
      </p:sp>
      <p:sp>
        <p:nvSpPr>
          <p:cNvPr id="30" name="Google Shape;30;p7"/>
          <p:cNvSpPr/>
          <p:nvPr/>
        </p:nvSpPr>
        <p:spPr>
          <a:xfrm>
            <a:off x="793790" y="2838688"/>
            <a:ext cx="6407944" cy="1648897"/>
          </a:xfrm>
          <a:prstGeom prst="roundRect">
            <a:avLst>
              <a:gd fmla="val 5778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7"/>
          <p:cNvSpPr/>
          <p:nvPr/>
        </p:nvSpPr>
        <p:spPr>
          <a:xfrm>
            <a:off x="1043464" y="3088362"/>
            <a:ext cx="374915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Dimensionality Reduction</a:t>
            </a:r>
            <a:endParaRPr b="0" i="0" sz="2550" u="none" cap="none" strike="noStrike"/>
          </a:p>
        </p:txBody>
      </p:sp>
      <p:sp>
        <p:nvSpPr>
          <p:cNvPr id="32" name="Google Shape;32;p7"/>
          <p:cNvSpPr/>
          <p:nvPr/>
        </p:nvSpPr>
        <p:spPr>
          <a:xfrm>
            <a:off x="1043464" y="3648313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Why it's needed when dealing with high-dimensional real-world datasets</a:t>
            </a:r>
            <a:endParaRPr b="0" i="0" sz="1750" u="none" cap="none" strike="noStrike"/>
          </a:p>
        </p:txBody>
      </p:sp>
      <p:sp>
        <p:nvSpPr>
          <p:cNvPr id="33" name="Google Shape;33;p7"/>
          <p:cNvSpPr/>
          <p:nvPr/>
        </p:nvSpPr>
        <p:spPr>
          <a:xfrm>
            <a:off x="7428548" y="2838688"/>
            <a:ext cx="6408063" cy="1648897"/>
          </a:xfrm>
          <a:prstGeom prst="roundRect">
            <a:avLst>
              <a:gd fmla="val 5778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7"/>
          <p:cNvSpPr/>
          <p:nvPr/>
        </p:nvSpPr>
        <p:spPr>
          <a:xfrm>
            <a:off x="7678222" y="3088362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Feature Redundancy</a:t>
            </a:r>
            <a:endParaRPr b="0" i="0" sz="2550" u="none" cap="none" strike="noStrike"/>
          </a:p>
        </p:txBody>
      </p:sp>
      <p:sp>
        <p:nvSpPr>
          <p:cNvPr id="35" name="Google Shape;35;p7"/>
          <p:cNvSpPr/>
          <p:nvPr/>
        </p:nvSpPr>
        <p:spPr>
          <a:xfrm>
            <a:off x="7678222" y="3648313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How correlated features create unnecessary overlap in information</a:t>
            </a:r>
            <a:endParaRPr b="0" i="0" sz="1750" u="none" cap="none" strike="noStrike"/>
          </a:p>
        </p:txBody>
      </p:sp>
      <p:sp>
        <p:nvSpPr>
          <p:cNvPr id="36" name="Google Shape;36;p7"/>
          <p:cNvSpPr/>
          <p:nvPr/>
        </p:nvSpPr>
        <p:spPr>
          <a:xfrm>
            <a:off x="793790" y="4714399"/>
            <a:ext cx="6407944" cy="1648897"/>
          </a:xfrm>
          <a:prstGeom prst="roundRect">
            <a:avLst>
              <a:gd fmla="val 5778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>
            <a:off x="1043464" y="4964073"/>
            <a:ext cx="350781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Unsupervised Transform</a:t>
            </a:r>
            <a:endParaRPr b="0" i="0" sz="2550" u="none" cap="none" strike="noStrike"/>
          </a:p>
        </p:txBody>
      </p:sp>
      <p:sp>
        <p:nvSpPr>
          <p:cNvPr id="38" name="Google Shape;38;p7"/>
          <p:cNvSpPr/>
          <p:nvPr/>
        </p:nvSpPr>
        <p:spPr>
          <a:xfrm>
            <a:off x="1043464" y="5524024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PCA transforms data without labels—it's not feature selection</a:t>
            </a:r>
            <a:endParaRPr b="0" i="0" sz="1750" u="none" cap="none" strike="noStrike"/>
          </a:p>
        </p:txBody>
      </p:sp>
      <p:sp>
        <p:nvSpPr>
          <p:cNvPr id="39" name="Google Shape;39;p7"/>
          <p:cNvSpPr/>
          <p:nvPr/>
        </p:nvSpPr>
        <p:spPr>
          <a:xfrm>
            <a:off x="7428548" y="4714399"/>
            <a:ext cx="6408063" cy="1648897"/>
          </a:xfrm>
          <a:prstGeom prst="roundRect">
            <a:avLst>
              <a:gd fmla="val 5778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7678222" y="4964073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Principal Components</a:t>
            </a:r>
            <a:endParaRPr b="0" i="0" sz="2550" u="none" cap="none" strike="noStrike"/>
          </a:p>
        </p:txBody>
      </p:sp>
      <p:sp>
        <p:nvSpPr>
          <p:cNvPr id="41" name="Google Shape;41;p7"/>
          <p:cNvSpPr/>
          <p:nvPr/>
        </p:nvSpPr>
        <p:spPr>
          <a:xfrm>
            <a:off x="7678222" y="5524024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New features created that capture maximum variance in fewer dimensions</a:t>
            </a:r>
            <a:endParaRPr b="0" i="0" sz="1750" u="none" cap="none" strike="noStrike"/>
          </a:p>
        </p:txBody>
      </p:sp>
      <p:sp>
        <p:nvSpPr>
          <p:cNvPr id="42" name="Google Shape;42;p7"/>
          <p:cNvSpPr/>
          <p:nvPr/>
        </p:nvSpPr>
        <p:spPr>
          <a:xfrm>
            <a:off x="1133951" y="6873597"/>
            <a:ext cx="1270265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highlight>
                  <a:srgbClr val="FF954F"/>
                </a:highlight>
                <a:latin typeface="Montserrat"/>
                <a:ea typeface="Montserrat"/>
                <a:cs typeface="Montserrat"/>
                <a:sym typeface="Montserrat"/>
              </a:rPr>
              <a:t>Key takeaway: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PCA helps us represent the same data using fewer, more informative dimensions.</a:t>
            </a:r>
            <a:endParaRPr b="0" i="0" sz="1750" u="none" cap="none" strike="noStrike"/>
          </a:p>
        </p:txBody>
      </p:sp>
      <p:sp>
        <p:nvSpPr>
          <p:cNvPr id="43" name="Google Shape;43;p7"/>
          <p:cNvSpPr/>
          <p:nvPr/>
        </p:nvSpPr>
        <p:spPr>
          <a:xfrm>
            <a:off x="793790" y="6618446"/>
            <a:ext cx="30480" cy="805101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793790" y="1044297"/>
            <a:ext cx="10570369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PCA from Mathematics to Meaning</a:t>
            </a:r>
            <a:endParaRPr b="0" i="0" sz="5100" u="none" cap="none" strike="noStrike"/>
          </a:p>
        </p:txBody>
      </p:sp>
      <p:sp>
        <p:nvSpPr>
          <p:cNvPr id="50" name="Google Shape;50;p8"/>
          <p:cNvSpPr/>
          <p:nvPr/>
        </p:nvSpPr>
        <p:spPr>
          <a:xfrm>
            <a:off x="793790" y="2232184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 connected the mathematical foundations directly to intuitive understanding, bridging theory and practice.</a:t>
            </a:r>
            <a:endParaRPr b="0" i="0" sz="1750" u="none" cap="none" strike="noStrike"/>
          </a:p>
        </p:txBody>
      </p:sp>
      <p:sp>
        <p:nvSpPr>
          <p:cNvPr id="51" name="Google Shape;51;p8"/>
          <p:cNvSpPr/>
          <p:nvPr/>
        </p:nvSpPr>
        <p:spPr>
          <a:xfrm>
            <a:off x="793790" y="3008948"/>
            <a:ext cx="5363289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Mathematical Foundation</a:t>
            </a:r>
            <a:endParaRPr b="0" i="0" sz="3050" u="none" cap="none" strike="noStrike"/>
          </a:p>
        </p:txBody>
      </p:sp>
      <p:sp>
        <p:nvSpPr>
          <p:cNvPr id="52" name="Google Shape;52;p8"/>
          <p:cNvSpPr/>
          <p:nvPr/>
        </p:nvSpPr>
        <p:spPr>
          <a:xfrm>
            <a:off x="793790" y="3744278"/>
            <a:ext cx="62447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Variance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reveals how much information a direction carries</a:t>
            </a:r>
            <a:endParaRPr b="0" i="0" sz="1750" u="none" cap="none" strike="noStrike"/>
          </a:p>
        </p:txBody>
      </p:sp>
      <p:sp>
        <p:nvSpPr>
          <p:cNvPr id="53" name="Google Shape;53;p8"/>
          <p:cNvSpPr/>
          <p:nvPr/>
        </p:nvSpPr>
        <p:spPr>
          <a:xfrm>
            <a:off x="793790" y="4413171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Covariance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shows how features move together</a:t>
            </a:r>
            <a:endParaRPr b="0" i="0" sz="1750" u="none" cap="none" strike="noStrike"/>
          </a:p>
        </p:txBody>
      </p:sp>
      <p:sp>
        <p:nvSpPr>
          <p:cNvPr id="54" name="Google Shape;54;p8"/>
          <p:cNvSpPr/>
          <p:nvPr/>
        </p:nvSpPr>
        <p:spPr>
          <a:xfrm>
            <a:off x="793790" y="4787265"/>
            <a:ext cx="62447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Eigenvectors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provide the directions (principal components)</a:t>
            </a:r>
            <a:endParaRPr b="0" i="0" sz="1750" u="none" cap="none" strike="noStrike"/>
          </a:p>
        </p:txBody>
      </p:sp>
      <p:sp>
        <p:nvSpPr>
          <p:cNvPr id="55" name="Google Shape;55;p8"/>
          <p:cNvSpPr/>
          <p:nvPr/>
        </p:nvSpPr>
        <p:spPr>
          <a:xfrm>
            <a:off x="793790" y="5456158"/>
            <a:ext cx="62447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Eigenvalues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quantify the importance of each direction</a:t>
            </a:r>
            <a:endParaRPr b="0" i="0" sz="1750" u="none" cap="none" strike="noStrike"/>
          </a:p>
        </p:txBody>
      </p:sp>
      <p:sp>
        <p:nvSpPr>
          <p:cNvPr id="56" name="Google Shape;56;p8"/>
          <p:cNvSpPr/>
          <p:nvPr/>
        </p:nvSpPr>
        <p:spPr>
          <a:xfrm>
            <a:off x="7599521" y="3008948"/>
            <a:ext cx="3912751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Practical Insight</a:t>
            </a:r>
            <a:endParaRPr b="0" i="0" sz="3050" u="none" cap="none" strike="noStrike"/>
          </a:p>
        </p:txBody>
      </p:sp>
      <p:sp>
        <p:nvSpPr>
          <p:cNvPr id="57" name="Google Shape;57;p8"/>
          <p:cNvSpPr/>
          <p:nvPr/>
        </p:nvSpPr>
        <p:spPr>
          <a:xfrm>
            <a:off x="7599521" y="3744278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PC1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captures the maximum variance in the data</a:t>
            </a:r>
            <a:endParaRPr b="0" i="0" sz="1750" u="none" cap="none" strike="noStrike"/>
          </a:p>
        </p:txBody>
      </p:sp>
      <p:sp>
        <p:nvSpPr>
          <p:cNvPr id="58" name="Google Shape;58;p8"/>
          <p:cNvSpPr/>
          <p:nvPr/>
        </p:nvSpPr>
        <p:spPr>
          <a:xfrm>
            <a:off x="7599521" y="4118372"/>
            <a:ext cx="62447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Later components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capture progressively less useful information</a:t>
            </a:r>
            <a:endParaRPr b="0" i="0" sz="1750" u="none" cap="none" strike="noStrike"/>
          </a:p>
        </p:txBody>
      </p:sp>
      <p:sp>
        <p:nvSpPr>
          <p:cNvPr id="59" name="Google Shape;59;p8"/>
          <p:cNvSpPr/>
          <p:nvPr/>
        </p:nvSpPr>
        <p:spPr>
          <a:xfrm>
            <a:off x="7599521" y="4787265"/>
            <a:ext cx="62447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Each component is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orthogonal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(independent) from others</a:t>
            </a:r>
            <a:endParaRPr b="0" i="0" sz="1750" u="none" cap="none" strike="noStrike"/>
          </a:p>
        </p:txBody>
      </p:sp>
      <p:sp>
        <p:nvSpPr>
          <p:cNvPr id="60" name="Google Shape;60;p8"/>
          <p:cNvSpPr/>
          <p:nvPr/>
        </p:nvSpPr>
        <p:spPr>
          <a:xfrm>
            <a:off x="1133951" y="6635353"/>
            <a:ext cx="1270265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highlight>
                  <a:srgbClr val="FF954F"/>
                </a:highlight>
                <a:latin typeface="Montserrat"/>
                <a:ea typeface="Montserrat"/>
                <a:cs typeface="Montserrat"/>
                <a:sym typeface="Montserrat"/>
              </a:rPr>
              <a:t>Key takeaway: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PCA keeps directions that matter and drops directions that don't.</a:t>
            </a:r>
            <a:endParaRPr b="0" i="0" sz="1750" u="none" cap="none" strike="noStrike"/>
          </a:p>
        </p:txBody>
      </p:sp>
      <p:sp>
        <p:nvSpPr>
          <p:cNvPr id="61" name="Google Shape;61;p8"/>
          <p:cNvSpPr/>
          <p:nvPr/>
        </p:nvSpPr>
        <p:spPr>
          <a:xfrm>
            <a:off x="793790" y="6380202"/>
            <a:ext cx="30480" cy="805101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8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FD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/>
          <p:nvPr/>
        </p:nvSpPr>
        <p:spPr>
          <a:xfrm>
            <a:off x="769620" y="747593"/>
            <a:ext cx="9911239" cy="821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950"/>
              <a:buFont typeface="Marcellus"/>
              <a:buNone/>
            </a:pPr>
            <a:r>
              <a:rPr b="0" i="0" lang="en-US" sz="49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Applying PCA Correctly in Practice</a:t>
            </a:r>
            <a:endParaRPr b="0" i="0" sz="4950" u="none" cap="none" strike="noStrike"/>
          </a:p>
        </p:txBody>
      </p:sp>
      <p:sp>
        <p:nvSpPr>
          <p:cNvPr id="72" name="Google Shape;72;p9"/>
          <p:cNvSpPr/>
          <p:nvPr/>
        </p:nvSpPr>
        <p:spPr>
          <a:xfrm>
            <a:off x="769620" y="1899285"/>
            <a:ext cx="13091160" cy="571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 learned the </a:t>
            </a:r>
            <a:r>
              <a:rPr b="1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correct workflow for PCA</a:t>
            </a: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using modern libraries, ensuring reproducible and effective dimensionality reduction.</a:t>
            </a:r>
            <a:endParaRPr b="0" i="0" sz="1700" u="none" cap="none" strike="noStrike"/>
          </a:p>
        </p:txBody>
      </p:sp>
      <p:sp>
        <p:nvSpPr>
          <p:cNvPr id="73" name="Google Shape;73;p9"/>
          <p:cNvSpPr/>
          <p:nvPr/>
        </p:nvSpPr>
        <p:spPr>
          <a:xfrm>
            <a:off x="769620" y="2718316"/>
            <a:ext cx="4217194" cy="1900952"/>
          </a:xfrm>
          <a:prstGeom prst="roundRect">
            <a:avLst>
              <a:gd fmla="val 7696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739140" y="2718316"/>
            <a:ext cx="121920" cy="1900952"/>
          </a:xfrm>
          <a:prstGeom prst="roundRect">
            <a:avLst>
              <a:gd fmla="val 75755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111329" y="2968585"/>
            <a:ext cx="3161109" cy="41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Scale Features</a:t>
            </a:r>
            <a:endParaRPr b="0" i="0" sz="2450" u="none" cap="none" strike="noStrike"/>
          </a:p>
        </p:txBody>
      </p:sp>
      <p:sp>
        <p:nvSpPr>
          <p:cNvPr id="76" name="Google Shape;76;p9"/>
          <p:cNvSpPr/>
          <p:nvPr/>
        </p:nvSpPr>
        <p:spPr>
          <a:xfrm>
            <a:off x="1111329" y="3511391"/>
            <a:ext cx="3625215" cy="571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Always standardize features before PCA to prevent scale bias</a:t>
            </a:r>
            <a:endParaRPr b="0" i="0" sz="1700" u="none" cap="none" strike="noStrike"/>
          </a:p>
        </p:txBody>
      </p:sp>
      <p:sp>
        <p:nvSpPr>
          <p:cNvPr id="77" name="Google Shape;77;p9"/>
          <p:cNvSpPr/>
          <p:nvPr/>
        </p:nvSpPr>
        <p:spPr>
          <a:xfrm>
            <a:off x="5206603" y="2718316"/>
            <a:ext cx="4217194" cy="1900952"/>
          </a:xfrm>
          <a:prstGeom prst="roundRect">
            <a:avLst>
              <a:gd fmla="val 7696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5176123" y="2718316"/>
            <a:ext cx="121920" cy="1900952"/>
          </a:xfrm>
          <a:prstGeom prst="roundRect">
            <a:avLst>
              <a:gd fmla="val 75755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9"/>
          <p:cNvSpPr/>
          <p:nvPr/>
        </p:nvSpPr>
        <p:spPr>
          <a:xfrm>
            <a:off x="5548313" y="2968585"/>
            <a:ext cx="3161109" cy="41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Fit &amp; Analyze</a:t>
            </a:r>
            <a:endParaRPr b="0" i="0" sz="2450" u="none" cap="none" strike="noStrike"/>
          </a:p>
        </p:txBody>
      </p:sp>
      <p:sp>
        <p:nvSpPr>
          <p:cNvPr id="80" name="Google Shape;80;p9"/>
          <p:cNvSpPr/>
          <p:nvPr/>
        </p:nvSpPr>
        <p:spPr>
          <a:xfrm>
            <a:off x="5548313" y="3511391"/>
            <a:ext cx="3625215" cy="571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Fit PCA and examine the explained variance ratio</a:t>
            </a:r>
            <a:endParaRPr b="0" i="0" sz="1700" u="none" cap="none" strike="noStrike"/>
          </a:p>
        </p:txBody>
      </p:sp>
      <p:sp>
        <p:nvSpPr>
          <p:cNvPr id="81" name="Google Shape;81;p9"/>
          <p:cNvSpPr/>
          <p:nvPr/>
        </p:nvSpPr>
        <p:spPr>
          <a:xfrm>
            <a:off x="9643586" y="2718316"/>
            <a:ext cx="4217194" cy="1900952"/>
          </a:xfrm>
          <a:prstGeom prst="roundRect">
            <a:avLst>
              <a:gd fmla="val 7696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9613106" y="2718316"/>
            <a:ext cx="121920" cy="1900952"/>
          </a:xfrm>
          <a:prstGeom prst="roundRect">
            <a:avLst>
              <a:gd fmla="val 75755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9985296" y="2968585"/>
            <a:ext cx="3161109" cy="41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Choose Components</a:t>
            </a:r>
            <a:endParaRPr b="0" i="0" sz="2450" u="none" cap="none" strike="noStrike"/>
          </a:p>
        </p:txBody>
      </p:sp>
      <p:sp>
        <p:nvSpPr>
          <p:cNvPr id="84" name="Google Shape;84;p9"/>
          <p:cNvSpPr/>
          <p:nvPr/>
        </p:nvSpPr>
        <p:spPr>
          <a:xfrm>
            <a:off x="9985296" y="3511391"/>
            <a:ext cx="3625215" cy="857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Select number of components using 90% or 95% variance threshold</a:t>
            </a:r>
            <a:endParaRPr b="0" i="0" sz="1700" u="none" cap="none" strike="noStrike"/>
          </a:p>
        </p:txBody>
      </p:sp>
      <p:sp>
        <p:nvSpPr>
          <p:cNvPr id="85" name="Google Shape;85;p9"/>
          <p:cNvSpPr/>
          <p:nvPr/>
        </p:nvSpPr>
        <p:spPr>
          <a:xfrm>
            <a:off x="769620" y="4839057"/>
            <a:ext cx="4217194" cy="1615083"/>
          </a:xfrm>
          <a:prstGeom prst="roundRect">
            <a:avLst>
              <a:gd fmla="val 9059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9"/>
          <p:cNvSpPr/>
          <p:nvPr/>
        </p:nvSpPr>
        <p:spPr>
          <a:xfrm>
            <a:off x="739140" y="4839057"/>
            <a:ext cx="121920" cy="1615083"/>
          </a:xfrm>
          <a:prstGeom prst="roundRect">
            <a:avLst>
              <a:gd fmla="val 75755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/>
          <p:nvPr/>
        </p:nvSpPr>
        <p:spPr>
          <a:xfrm>
            <a:off x="1111329" y="5089327"/>
            <a:ext cx="3161109" cy="41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Transform Data</a:t>
            </a:r>
            <a:endParaRPr b="0" i="0" sz="2450" u="none" cap="none" strike="noStrike"/>
          </a:p>
        </p:txBody>
      </p:sp>
      <p:sp>
        <p:nvSpPr>
          <p:cNvPr id="88" name="Google Shape;88;p9"/>
          <p:cNvSpPr/>
          <p:nvPr/>
        </p:nvSpPr>
        <p:spPr>
          <a:xfrm>
            <a:off x="1111329" y="5632133"/>
            <a:ext cx="3625215" cy="571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Project original data into the new PCA feature space</a:t>
            </a:r>
            <a:endParaRPr b="0" i="0" sz="1700" u="none" cap="none" strike="noStrike"/>
          </a:p>
        </p:txBody>
      </p:sp>
      <p:sp>
        <p:nvSpPr>
          <p:cNvPr id="89" name="Google Shape;89;p9"/>
          <p:cNvSpPr/>
          <p:nvPr/>
        </p:nvSpPr>
        <p:spPr>
          <a:xfrm>
            <a:off x="5206603" y="4839057"/>
            <a:ext cx="4217194" cy="1615083"/>
          </a:xfrm>
          <a:prstGeom prst="roundRect">
            <a:avLst>
              <a:gd fmla="val 9059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5176123" y="4839057"/>
            <a:ext cx="121920" cy="1615083"/>
          </a:xfrm>
          <a:prstGeom prst="roundRect">
            <a:avLst>
              <a:gd fmla="val 75755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9"/>
          <p:cNvSpPr/>
          <p:nvPr/>
        </p:nvSpPr>
        <p:spPr>
          <a:xfrm>
            <a:off x="5548313" y="5089327"/>
            <a:ext cx="3161109" cy="41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Visualize &amp; Model</a:t>
            </a:r>
            <a:endParaRPr b="0" i="0" sz="2450" u="none" cap="none" strike="noStrike"/>
          </a:p>
        </p:txBody>
      </p:sp>
      <p:sp>
        <p:nvSpPr>
          <p:cNvPr id="92" name="Google Shape;92;p9"/>
          <p:cNvSpPr/>
          <p:nvPr/>
        </p:nvSpPr>
        <p:spPr>
          <a:xfrm>
            <a:off x="5548313" y="5632133"/>
            <a:ext cx="3625215" cy="571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Use PC1 and PC2 for visualization or integrate into ML pipelines</a:t>
            </a:r>
            <a:endParaRPr b="0" i="0" sz="1700" u="none" cap="none" strike="noStrike"/>
          </a:p>
        </p:txBody>
      </p:sp>
      <p:sp>
        <p:nvSpPr>
          <p:cNvPr id="93" name="Google Shape;93;p9"/>
          <p:cNvSpPr/>
          <p:nvPr/>
        </p:nvSpPr>
        <p:spPr>
          <a:xfrm>
            <a:off x="1099423" y="6948726"/>
            <a:ext cx="12761357" cy="28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highlight>
                  <a:srgbClr val="FF954F"/>
                </a:highlight>
                <a:latin typeface="Montserrat"/>
                <a:ea typeface="Montserrat"/>
                <a:cs typeface="Montserrat"/>
                <a:sym typeface="Montserrat"/>
              </a:rPr>
              <a:t>Key takeaway:</a:t>
            </a: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PCA is powerful only when applied carefully and for the right reason.</a:t>
            </a:r>
            <a:endParaRPr b="0" i="0" sz="1700" u="none" cap="none" strike="noStrike"/>
          </a:p>
        </p:txBody>
      </p:sp>
      <p:sp>
        <p:nvSpPr>
          <p:cNvPr id="94" name="Google Shape;94;p9"/>
          <p:cNvSpPr/>
          <p:nvPr/>
        </p:nvSpPr>
        <p:spPr>
          <a:xfrm>
            <a:off x="769620" y="6701433"/>
            <a:ext cx="30480" cy="780455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/>
          <p:nvPr/>
        </p:nvSpPr>
        <p:spPr>
          <a:xfrm>
            <a:off x="754737" y="732234"/>
            <a:ext cx="10684312" cy="805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896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850"/>
              <a:buFont typeface="Marcellus"/>
              <a:buNone/>
            </a:pPr>
            <a:r>
              <a:rPr b="0" i="0" lang="en-US" sz="48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When to Use PCA (And When Not To)</a:t>
            </a:r>
            <a:endParaRPr b="0" i="0" sz="4850" u="none" cap="none" strike="noStrike"/>
          </a:p>
        </p:txBody>
      </p:sp>
      <p:sp>
        <p:nvSpPr>
          <p:cNvPr id="101" name="Google Shape;101;p10"/>
          <p:cNvSpPr/>
          <p:nvPr/>
        </p:nvSpPr>
        <p:spPr>
          <a:xfrm>
            <a:off x="754737" y="1861542"/>
            <a:ext cx="13120926" cy="280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 learned to make </a:t>
            </a:r>
            <a:r>
              <a:rPr b="1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informed decisions</a:t>
            </a: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, not blind ones. PCA is a powerful tool, but it's not appropriate for every situation.</a:t>
            </a:r>
            <a:endParaRPr b="0" i="0" sz="1650" u="none" cap="none" strike="noStrike"/>
          </a:p>
        </p:txBody>
      </p:sp>
      <p:sp>
        <p:nvSpPr>
          <p:cNvPr id="102" name="Google Shape;102;p10"/>
          <p:cNvSpPr/>
          <p:nvPr/>
        </p:nvSpPr>
        <p:spPr>
          <a:xfrm>
            <a:off x="754737" y="2626876"/>
            <a:ext cx="6297454" cy="3619976"/>
          </a:xfrm>
          <a:prstGeom prst="roundRect">
            <a:avLst>
              <a:gd fmla="val 2502" name="adj"/>
            </a:avLst>
          </a:prstGeom>
          <a:solidFill>
            <a:srgbClr val="FFD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359" y="2936558"/>
            <a:ext cx="464939" cy="3719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0"/>
          <p:cNvSpPr/>
          <p:nvPr/>
        </p:nvSpPr>
        <p:spPr>
          <a:xfrm>
            <a:off x="1650921" y="2896314"/>
            <a:ext cx="3719870" cy="483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Marcellus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Use PCA When:</a:t>
            </a:r>
            <a:endParaRPr b="0" i="0" sz="2900" u="none" cap="none" strike="noStrike"/>
          </a:p>
        </p:txBody>
      </p:sp>
      <p:sp>
        <p:nvSpPr>
          <p:cNvPr id="105" name="Google Shape;105;p10"/>
          <p:cNvSpPr/>
          <p:nvPr/>
        </p:nvSpPr>
        <p:spPr>
          <a:xfrm>
            <a:off x="1650921" y="3595449"/>
            <a:ext cx="5185648" cy="560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 have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many numeric features</a:t>
            </a: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(high dimensionality)</a:t>
            </a:r>
            <a:endParaRPr b="0" i="0" sz="1650" u="none" cap="none" strike="noStrike"/>
          </a:p>
        </p:txBody>
      </p:sp>
      <p:sp>
        <p:nvSpPr>
          <p:cNvPr id="106" name="Google Shape;106;p10"/>
          <p:cNvSpPr/>
          <p:nvPr/>
        </p:nvSpPr>
        <p:spPr>
          <a:xfrm>
            <a:off x="1650921" y="4231362"/>
            <a:ext cx="5185648" cy="560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Features are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highly correlated</a:t>
            </a: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with each other</a:t>
            </a:r>
            <a:endParaRPr b="0" i="0" sz="1650" u="none" cap="none" strike="noStrike"/>
          </a:p>
        </p:txBody>
      </p:sp>
      <p:sp>
        <p:nvSpPr>
          <p:cNvPr id="107" name="Google Shape;107;p10"/>
          <p:cNvSpPr/>
          <p:nvPr/>
        </p:nvSpPr>
        <p:spPr>
          <a:xfrm>
            <a:off x="1650921" y="4867275"/>
            <a:ext cx="5185648" cy="560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 need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faster models</a:t>
            </a: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or clear visualization</a:t>
            </a:r>
            <a:endParaRPr b="0" i="0" sz="1650" u="none" cap="none" strike="noStrike"/>
          </a:p>
        </p:txBody>
      </p:sp>
      <p:sp>
        <p:nvSpPr>
          <p:cNvPr id="108" name="Google Shape;108;p10"/>
          <p:cNvSpPr/>
          <p:nvPr/>
        </p:nvSpPr>
        <p:spPr>
          <a:xfrm>
            <a:off x="1650921" y="5503188"/>
            <a:ext cx="5185648" cy="560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 want to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reduce noise</a:t>
            </a: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and eliminate redundancy</a:t>
            </a:r>
            <a:endParaRPr b="0" i="0" sz="1650" u="none" cap="none" strike="noStrike"/>
          </a:p>
        </p:txBody>
      </p:sp>
      <p:sp>
        <p:nvSpPr>
          <p:cNvPr id="109" name="Google Shape;109;p10"/>
          <p:cNvSpPr/>
          <p:nvPr/>
        </p:nvSpPr>
        <p:spPr>
          <a:xfrm>
            <a:off x="7585829" y="2626876"/>
            <a:ext cx="6297454" cy="3059430"/>
          </a:xfrm>
          <a:prstGeom prst="roundRect">
            <a:avLst>
              <a:gd fmla="val 2960" name="adj"/>
            </a:avLst>
          </a:prstGeom>
          <a:solidFill>
            <a:srgbClr val="FFD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1451" y="2936558"/>
            <a:ext cx="464939" cy="3719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0"/>
          <p:cNvSpPr/>
          <p:nvPr/>
        </p:nvSpPr>
        <p:spPr>
          <a:xfrm>
            <a:off x="8482013" y="2896314"/>
            <a:ext cx="3719870" cy="483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Marcellus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Avoid PCA When:</a:t>
            </a:r>
            <a:endParaRPr b="0" i="0" sz="2900" u="none" cap="none" strike="noStrike"/>
          </a:p>
        </p:txBody>
      </p:sp>
      <p:sp>
        <p:nvSpPr>
          <p:cNvPr id="112" name="Google Shape;112;p10"/>
          <p:cNvSpPr/>
          <p:nvPr/>
        </p:nvSpPr>
        <p:spPr>
          <a:xfrm>
            <a:off x="8482013" y="3595449"/>
            <a:ext cx="5185648" cy="280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Interpretability</a:t>
            </a: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of original features is critical</a:t>
            </a:r>
            <a:endParaRPr b="0" i="0" sz="1650" u="none" cap="none" strike="noStrike"/>
          </a:p>
        </p:txBody>
      </p:sp>
      <p:sp>
        <p:nvSpPr>
          <p:cNvPr id="113" name="Google Shape;113;p10"/>
          <p:cNvSpPr/>
          <p:nvPr/>
        </p:nvSpPr>
        <p:spPr>
          <a:xfrm>
            <a:off x="8482013" y="3951089"/>
            <a:ext cx="5185648" cy="280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Feature count is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already small</a:t>
            </a: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(≤10 features)</a:t>
            </a:r>
            <a:endParaRPr b="0" i="0" sz="1650" u="none" cap="none" strike="noStrike"/>
          </a:p>
        </p:txBody>
      </p:sp>
      <p:sp>
        <p:nvSpPr>
          <p:cNvPr id="114" name="Google Shape;114;p10"/>
          <p:cNvSpPr/>
          <p:nvPr/>
        </p:nvSpPr>
        <p:spPr>
          <a:xfrm>
            <a:off x="8482013" y="4306729"/>
            <a:ext cx="5185648" cy="560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is mostly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categorical</a:t>
            </a: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rather than numeric</a:t>
            </a:r>
            <a:endParaRPr b="0" i="0" sz="1650" u="none" cap="none" strike="noStrike"/>
          </a:p>
        </p:txBody>
      </p:sp>
      <p:sp>
        <p:nvSpPr>
          <p:cNvPr id="115" name="Google Shape;115;p10"/>
          <p:cNvSpPr/>
          <p:nvPr/>
        </p:nvSpPr>
        <p:spPr>
          <a:xfrm>
            <a:off x="8482013" y="4942642"/>
            <a:ext cx="5185648" cy="560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Montserrat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Domain knowledge requires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specific features</a:t>
            </a:r>
            <a:endParaRPr b="0" i="0" sz="1650" u="none" cap="none" strike="noStrike"/>
          </a:p>
        </p:txBody>
      </p:sp>
      <p:sp>
        <p:nvSpPr>
          <p:cNvPr id="116" name="Google Shape;116;p10"/>
          <p:cNvSpPr/>
          <p:nvPr/>
        </p:nvSpPr>
        <p:spPr>
          <a:xfrm>
            <a:off x="1078111" y="6974443"/>
            <a:ext cx="12797552" cy="280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954F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Final takeaway:</a:t>
            </a: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PCA is a tool, not a rule. Use it when the data demands it.</a:t>
            </a:r>
            <a:endParaRPr b="0" i="0" sz="1650" u="none" cap="none" strike="noStrike"/>
          </a:p>
        </p:txBody>
      </p:sp>
      <p:sp>
        <p:nvSpPr>
          <p:cNvPr id="117" name="Google Shape;117;p10"/>
          <p:cNvSpPr/>
          <p:nvPr/>
        </p:nvSpPr>
        <p:spPr>
          <a:xfrm>
            <a:off x="754737" y="6731913"/>
            <a:ext cx="30480" cy="765334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